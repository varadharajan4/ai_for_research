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77" r:id="rId4"/>
    <p:sldId id="278" r:id="rId5"/>
    <p:sldId id="261" r:id="rId6"/>
    <p:sldId id="262" r:id="rId7"/>
    <p:sldId id="263" r:id="rId8"/>
    <p:sldId id="264" r:id="rId9"/>
    <p:sldId id="265" r:id="rId10"/>
    <p:sldId id="268" r:id="rId11"/>
    <p:sldId id="276" r:id="rId12"/>
    <p:sldId id="27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21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84632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for Research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Content Development</a:t>
            </a:r>
            <a:endParaRPr lang="en-US" sz="4000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E99AFAF3-9399-4399-BD6C-DB575AE49E2B}"/>
              </a:ext>
            </a:extLst>
          </p:cNvPr>
          <p:cNvSpPr/>
          <p:nvPr/>
        </p:nvSpPr>
        <p:spPr>
          <a:xfrm>
            <a:off x="6100621" y="65199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8A9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Dattha Institute  ·  GITAM School of Business, Bengaluru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Research Tool Landscape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of tools accelerate different phases of the research journey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2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4650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7452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Discovery &amp; Summarization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Elicit, Perplexity 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4920" y="1554480"/>
            <a:ext cx="6400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relevant papers, summarizes findings, answers research questions with citations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3347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8254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95351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706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 Network Mapping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55448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Papers, ResearchRabbit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74920" y="2633472"/>
            <a:ext cx="6400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how papers relate &amp; cite one another to surface seminal works and gaps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712464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2F7F9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39044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03250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7856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Credibility Checking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554480" y="4123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Scite AI, Consensus (Premium)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74920" y="3712464"/>
            <a:ext cx="6400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whether a paper's claims are supported or contradicted elsewhere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79145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49834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111496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48646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Drafting &amp; Reasoning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554480" y="52029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074920" y="4791456"/>
            <a:ext cx="6400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proposals, synthesizes text, brainstorms research angles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D745CF-C352-430A-848D-EC59CB831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053863"/>
              </p:ext>
            </p:extLst>
          </p:nvPr>
        </p:nvGraphicFramePr>
        <p:xfrm>
          <a:off x="568960" y="528148"/>
          <a:ext cx="11277600" cy="60860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3313">
                  <a:extLst>
                    <a:ext uri="{9D8B030D-6E8A-4147-A177-3AD203B41FA5}">
                      <a16:colId xmlns:a16="http://schemas.microsoft.com/office/drawing/2014/main" val="2128882604"/>
                    </a:ext>
                  </a:extLst>
                </a:gridCol>
                <a:gridCol w="1771456">
                  <a:extLst>
                    <a:ext uri="{9D8B030D-6E8A-4147-A177-3AD203B41FA5}">
                      <a16:colId xmlns:a16="http://schemas.microsoft.com/office/drawing/2014/main" val="1053672338"/>
                    </a:ext>
                  </a:extLst>
                </a:gridCol>
                <a:gridCol w="3377576">
                  <a:extLst>
                    <a:ext uri="{9D8B030D-6E8A-4147-A177-3AD203B41FA5}">
                      <a16:colId xmlns:a16="http://schemas.microsoft.com/office/drawing/2014/main" val="568388247"/>
                    </a:ext>
                  </a:extLst>
                </a:gridCol>
                <a:gridCol w="4085255">
                  <a:extLst>
                    <a:ext uri="{9D8B030D-6E8A-4147-A177-3AD203B41FA5}">
                      <a16:colId xmlns:a16="http://schemas.microsoft.com/office/drawing/2014/main" val="1055376007"/>
                    </a:ext>
                  </a:extLst>
                </a:gridCol>
              </a:tblGrid>
              <a:tr h="315364">
                <a:tc>
                  <a:txBody>
                    <a:bodyPr/>
                    <a:lstStyle/>
                    <a:p>
                      <a:r>
                        <a:rPr lang="en-IN" sz="1600" dirty="0"/>
                        <a:t>Category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Tool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Purpose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Example Prompt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877189397"/>
                  </a:ext>
                </a:extLst>
              </a:tr>
              <a:tr h="856653">
                <a:tc>
                  <a:txBody>
                    <a:bodyPr/>
                    <a:lstStyle/>
                    <a:p>
                      <a:r>
                        <a:rPr lang="en-IN" sz="1600" b="1" dirty="0"/>
                        <a:t>Paper Discovery &amp; Summarization</a:t>
                      </a:r>
                      <a:endParaRPr lang="en-IN" sz="1600" dirty="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Elicit</a:t>
                      </a:r>
                      <a:endParaRPr lang="en-IN" sz="1600" dirty="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Find relevant research papers and generate summaries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"Find recent papers (2023–2026) on AI-assisted learning in higher education and summarize key findings."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784897965"/>
                  </a:ext>
                </a:extLst>
              </a:tr>
              <a:tr h="856653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Perplexity AI</a:t>
                      </a:r>
                      <a:endParaRPr lang="en-IN" sz="1600" dirty="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Search academic information with cited sources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"What are the latest trends in Generative AI for healthcare research? Provide references."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203141545"/>
                  </a:ext>
                </a:extLst>
              </a:tr>
              <a:tr h="586009">
                <a:tc>
                  <a:txBody>
                    <a:bodyPr/>
                    <a:lstStyle/>
                    <a:p>
                      <a:r>
                        <a:rPr lang="en-IN" sz="1600" b="1" dirty="0"/>
                        <a:t>Citation Network Mapping</a:t>
                      </a:r>
                      <a:endParaRPr lang="en-IN" sz="1600" dirty="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Connected Papers</a:t>
                      </a:r>
                      <a:endParaRPr lang="en-IN" sz="1600" dirty="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Visualize relationships between papers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"Generate a citation network for papers related to Explainable AI (XAI)."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447144461"/>
                  </a:ext>
                </a:extLst>
              </a:tr>
              <a:tr h="856653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ResearchRabbit</a:t>
                      </a:r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Discover related papers, authors, and research trends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"Find influential authors and related publications on AI-powered grading systems."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4000239448"/>
                  </a:ext>
                </a:extLst>
              </a:tr>
              <a:tr h="586009">
                <a:tc>
                  <a:txBody>
                    <a:bodyPr/>
                    <a:lstStyle/>
                    <a:p>
                      <a:r>
                        <a:rPr lang="en-IN" sz="1600" b="1"/>
                        <a:t>Credibility Checking</a:t>
                      </a:r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Scite AI</a:t>
                      </a:r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Verify whether papers are supported or contradicted by later research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"Analyze this paper and show supporting and contrasting citations."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810691464"/>
                  </a:ext>
                </a:extLst>
              </a:tr>
              <a:tr h="856653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Consensus</a:t>
                      </a:r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Answer research questions using evidence from scholarly studies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"Does online learning improve student performance? Show evidence from peer-reviewed studies."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832507723"/>
                  </a:ext>
                </a:extLst>
              </a:tr>
              <a:tr h="586009">
                <a:tc>
                  <a:txBody>
                    <a:bodyPr/>
                    <a:lstStyle/>
                    <a:p>
                      <a:r>
                        <a:rPr lang="en-IN" sz="1600" b="1"/>
                        <a:t>General Drafting &amp; Reasoning</a:t>
                      </a:r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ChatGPT</a:t>
                      </a:r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Literature review, research design, data analysis, writing assistance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"Write a literature review on AI in education using APA 7th edition style."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341386429"/>
                  </a:ext>
                </a:extLst>
              </a:tr>
              <a:tr h="586009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Gemini</a:t>
                      </a:r>
                      <a:endParaRPr lang="en-IN" sz="1600"/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Multimodal reasoning, document analysis, brainstorming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"Analyze the uploaded research proposal and suggest improvements."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044378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8127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574E5EA-C3A2-4991-A842-77E216218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020083"/>
              </p:ext>
            </p:extLst>
          </p:nvPr>
        </p:nvGraphicFramePr>
        <p:xfrm>
          <a:off x="345440" y="853440"/>
          <a:ext cx="11389360" cy="46942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5906">
                  <a:extLst>
                    <a:ext uri="{9D8B030D-6E8A-4147-A177-3AD203B41FA5}">
                      <a16:colId xmlns:a16="http://schemas.microsoft.com/office/drawing/2014/main" val="3701708229"/>
                    </a:ext>
                  </a:extLst>
                </a:gridCol>
                <a:gridCol w="1938235">
                  <a:extLst>
                    <a:ext uri="{9D8B030D-6E8A-4147-A177-3AD203B41FA5}">
                      <a16:colId xmlns:a16="http://schemas.microsoft.com/office/drawing/2014/main" val="1655368223"/>
                    </a:ext>
                  </a:extLst>
                </a:gridCol>
                <a:gridCol w="2384832">
                  <a:extLst>
                    <a:ext uri="{9D8B030D-6E8A-4147-A177-3AD203B41FA5}">
                      <a16:colId xmlns:a16="http://schemas.microsoft.com/office/drawing/2014/main" val="1378703048"/>
                    </a:ext>
                  </a:extLst>
                </a:gridCol>
                <a:gridCol w="5380387">
                  <a:extLst>
                    <a:ext uri="{9D8B030D-6E8A-4147-A177-3AD203B41FA5}">
                      <a16:colId xmlns:a16="http://schemas.microsoft.com/office/drawing/2014/main" val="488157766"/>
                    </a:ext>
                  </a:extLst>
                </a:gridCol>
              </a:tblGrid>
              <a:tr h="3656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</a:rPr>
                        <a:t>Topic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Tool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Objective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Example Prompt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150319"/>
                  </a:ext>
                </a:extLst>
              </a:tr>
              <a:tr h="9945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Topic Selection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ChatGPT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</a:rPr>
                        <a:t>Generate research ideas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</a:rPr>
                        <a:t>Suggest 20 novel research topics on Generative AI in Higher Education suitable for Scopus-indexed journals.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9063976"/>
                  </a:ext>
                </a:extLst>
              </a:tr>
              <a:tr h="6563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Elicit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Discover relevant papers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Find papers published between 2023–2026 on AI-assisted student assessment systems.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305682"/>
                  </a:ext>
                </a:extLst>
              </a:tr>
              <a:tr h="9928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Analysis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Elicit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Discover unanswered questions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Which research questions remain unanswered in AI-driven personalized learning systems?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9436431"/>
                  </a:ext>
                </a:extLst>
              </a:tr>
              <a:tr h="6918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Citation Analysis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ResearchRabbit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Find key researchers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influential authors working on Learning Analytics and Educational Data Mining.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1774390"/>
                  </a:ext>
                </a:extLst>
              </a:tr>
              <a:tr h="9928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Evidence-Based Research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Consensus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validation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Does AI improve student learning outcomes? Summarise evidence from peer-reviewed studies.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4799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832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971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2011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4023360"/>
            <a:ext cx="3200400" cy="2194560"/>
          </a:xfrm>
          <a:prstGeom prst="roundRect">
            <a:avLst>
              <a:gd name="adj" fmla="val 4167"/>
            </a:avLst>
          </a:prstGeom>
          <a:solidFill>
            <a:srgbClr val="21295C">
              <a:alpha val="9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  •  Perplexity AI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5349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Tracker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434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Process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343400" y="11430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46320" y="11064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demo: live search on Elicit with a sample research question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343400" y="17099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434340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0" y="16733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own research topic from your discipline / ongoing work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343400" y="227685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4343400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46320" y="2240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research question into Elicit or Perplexity AI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343400" y="28437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4343400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46320" y="280720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top 4-5 results: Title, Author/Year, Key Finding, Methodology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343400" y="341071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4"/>
          <p:cNvSpPr/>
          <p:nvPr/>
        </p:nvSpPr>
        <p:spPr>
          <a:xfrm>
            <a:off x="434340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46320" y="337413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synthesize common themes across the findings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343400" y="3977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7"/>
          <p:cNvSpPr/>
          <p:nvPr/>
        </p:nvSpPr>
        <p:spPr>
          <a:xfrm>
            <a:off x="43434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846320" y="394106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ONE source by clicking through to the original paper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965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2011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3434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Process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3400" y="11430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11064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prompt AI to find 3 unresolved questions from your literature synthesis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43400" y="180136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46320" y="176479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prompt using your own Experiment 1 synthesis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343400" y="24597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24231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gap; ask AI to formulate a novel, testable research question + methodology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343400" y="311810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19"/>
          <p:cNvSpPr/>
          <p:nvPr/>
        </p:nvSpPr>
        <p:spPr>
          <a:xfrm>
            <a:off x="434340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46320" y="30815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ACTIVITY: swap with a neighbor; rate their question on the 3 quality checks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343400" y="37764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434340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46320" y="373989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your research question based on the peer feedback received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| AI for Research &amp; Academic Content Development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>
            <a:extLst>
              <a:ext uri="{FF2B5EF4-FFF2-40B4-BE49-F238E27FC236}">
                <a16:creationId xmlns:a16="http://schemas.microsoft.com/office/drawing/2014/main" id="{58F094B7-E10A-4154-A688-1F4A6966643A}"/>
              </a:ext>
            </a:extLst>
          </p:cNvPr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1035580" y="2971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2011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Proposal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3434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Template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43400" y="1005840"/>
            <a:ext cx="7223760" cy="1554480"/>
          </a:xfrm>
          <a:prstGeom prst="roundRect">
            <a:avLst>
              <a:gd name="adj" fmla="val 5882"/>
            </a:avLst>
          </a:prstGeom>
          <a:solidFill>
            <a:srgbClr val="F2F7F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1430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research methodology expert. Based on this research question: [INSERT QUESTION], create a one-page research proposal outline with sections: (1) Background &amp; Rationale (2) Research Objectives (3) Proposed Methodology (4) Expected Contribution (5) Limitations. Keep each section under 60 words."</a:t>
            </a:r>
            <a:endParaRPr lang="en-US" sz="1250" b="1" dirty="0"/>
          </a:p>
        </p:txBody>
      </p:sp>
      <p:sp>
        <p:nvSpPr>
          <p:cNvPr id="11" name="Text 8"/>
          <p:cNvSpPr/>
          <p:nvPr/>
        </p:nvSpPr>
        <p:spPr>
          <a:xfrm>
            <a:off x="43434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Proposal Sections Generated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2461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443484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16552" y="365760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24728" y="32461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5916168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97880" y="365760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06056" y="32461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7397496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79208" y="365760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787384" y="32461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8878824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860536" y="365760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10268712" y="32461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10360152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341864" y="365760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4: Academic Content Creation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2F7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52044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15544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50-minute lesson plan on [topic] for [level], including objectives, 3 activities, and 1 assessment question. Present as a table."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2F7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15968" y="1554480"/>
            <a:ext cx="352044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9"/>
          <p:cNvSpPr/>
          <p:nvPr/>
        </p:nvSpPr>
        <p:spPr>
          <a:xfrm>
            <a:off x="5230368" y="15544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44568" y="2697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44568" y="30632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"Develop a 300-word business case study on [topic/scenario] relevant to [course], ending with 3 discussion questions."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83296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2F7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83296" y="1554480"/>
            <a:ext cx="3520440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4"/>
          <p:cNvSpPr/>
          <p:nvPr/>
        </p:nvSpPr>
        <p:spPr>
          <a:xfrm>
            <a:off x="8997696" y="15544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11896" y="2697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11896" y="30632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10-slide outline on [topic] for [audience], with one key message per slide."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Takeaway Checklist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65825" y="1269507"/>
            <a:ext cx="5414935" cy="96162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 can use Elicit / Perplexity AI to conduct a rapid literature search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65825" y="2321067"/>
            <a:ext cx="5414935" cy="96162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 can synthesize multiple paper summaries into common themes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665825" y="3372627"/>
            <a:ext cx="5414935" cy="96162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 can identify a research gap and formulate a testable research question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6289385" y="1269507"/>
            <a:ext cx="5414935" cy="96162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 can generate a structured research proposal outline using AI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6289385" y="2321067"/>
            <a:ext cx="5414935" cy="96162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 can create a lesson plan, case study, or presentation outline with AI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289385" y="3372627"/>
            <a:ext cx="5414935" cy="96162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3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 understand the verification step before using AI-sourced research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3EC7AD-AC42-4766-BFA5-960A8F8DCCCE}"/>
              </a:ext>
            </a:extLst>
          </p:cNvPr>
          <p:cNvSpPr txBox="1"/>
          <p:nvPr/>
        </p:nvSpPr>
        <p:spPr>
          <a:xfrm>
            <a:off x="4252402" y="1513709"/>
            <a:ext cx="7519387" cy="110799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Use this sequence for every prompt:</a:t>
            </a:r>
          </a:p>
          <a:p>
            <a:endParaRPr lang="en-US" sz="2400" b="1" dirty="0"/>
          </a:p>
          <a:p>
            <a:pPr algn="ctr"/>
            <a:r>
              <a:rPr lang="en-US" b="1" dirty="0"/>
              <a:t>Role → Task → Context → Format → Constraints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CD871-8461-4D6B-B93B-44F2E9A92720}"/>
              </a:ext>
            </a:extLst>
          </p:cNvPr>
          <p:cNvSpPr txBox="1"/>
          <p:nvPr/>
        </p:nvSpPr>
        <p:spPr>
          <a:xfrm>
            <a:off x="4181382" y="592701"/>
            <a:ext cx="7625919" cy="461665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Non-professional, simple prompt: “</a:t>
            </a:r>
            <a:r>
              <a:rPr lang="en-IN" sz="2400" dirty="0">
                <a:solidFill>
                  <a:schemeClr val="bg1"/>
                </a:solidFill>
              </a:rPr>
              <a:t>Create a lesson plan”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FE237-0B79-4583-9F2C-74DA69B5A8F4}"/>
              </a:ext>
            </a:extLst>
          </p:cNvPr>
          <p:cNvSpPr txBox="1"/>
          <p:nvPr/>
        </p:nvSpPr>
        <p:spPr>
          <a:xfrm>
            <a:off x="4163627" y="3214222"/>
            <a:ext cx="7847861" cy="3416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Professional, simple prompt:</a:t>
            </a:r>
            <a:endParaRPr lang="en-IN" dirty="0"/>
          </a:p>
          <a:p>
            <a:r>
              <a:rPr lang="en-IN" dirty="0"/>
              <a:t>Act as an instructional designer.</a:t>
            </a:r>
          </a:p>
          <a:p>
            <a:endParaRPr lang="en-IN" dirty="0"/>
          </a:p>
          <a:p>
            <a:r>
              <a:rPr lang="en-IN" dirty="0"/>
              <a:t>Create a 60-minute lesson plan on Generative AI for first-year engineering students.</a:t>
            </a:r>
          </a:p>
          <a:p>
            <a:endParaRPr lang="en-IN" dirty="0"/>
          </a:p>
          <a:p>
            <a:r>
              <a:rPr lang="en-IN" dirty="0"/>
              <a:t>Format:</a:t>
            </a:r>
          </a:p>
          <a:p>
            <a:r>
              <a:rPr lang="en-IN" dirty="0"/>
              <a:t>Table with time allocation.</a:t>
            </a:r>
          </a:p>
          <a:p>
            <a:endParaRPr lang="en-IN" dirty="0"/>
          </a:p>
          <a:p>
            <a:r>
              <a:rPr lang="en-IN" dirty="0"/>
              <a:t>Constraints:</a:t>
            </a:r>
          </a:p>
          <a:p>
            <a:r>
              <a:rPr lang="en-IN" dirty="0"/>
              <a:t>Include two activities, one case study, formative assessment, and Bloom's Taxonomy alignment.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CFBF0ED8-E966-4221-AAA2-B66341F716C2}"/>
              </a:ext>
            </a:extLst>
          </p:cNvPr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394E30-EB7B-4382-B964-6890E0BF55B3}"/>
              </a:ext>
            </a:extLst>
          </p:cNvPr>
          <p:cNvSpPr txBox="1"/>
          <p:nvPr/>
        </p:nvSpPr>
        <p:spPr>
          <a:xfrm>
            <a:off x="743505" y="2723171"/>
            <a:ext cx="6227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>
                    <a:lumMod val="95000"/>
                  </a:schemeClr>
                </a:solidFill>
              </a:rPr>
              <a:t>Example Prompts:</a:t>
            </a:r>
          </a:p>
        </p:txBody>
      </p:sp>
    </p:spTree>
    <p:extLst>
      <p:ext uri="{BB962C8B-B14F-4D97-AF65-F5344CB8AC3E}">
        <p14:creationId xmlns:p14="http://schemas.microsoft.com/office/powerpoint/2010/main" val="401602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10F1A2-CCF1-4372-AD65-B1CF28200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970" y="5336837"/>
            <a:ext cx="8305030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Final Statement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"A research gap is discovered through evidence—not generated by AI."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68E55B-87C8-41AF-AE67-21EB3E6AF8B1}"/>
              </a:ext>
            </a:extLst>
          </p:cNvPr>
          <p:cNvGraphicFramePr>
            <a:graphicFrameLocks noGrp="1"/>
          </p:cNvGraphicFramePr>
          <p:nvPr/>
        </p:nvGraphicFramePr>
        <p:xfrm>
          <a:off x="919480" y="1368991"/>
          <a:ext cx="10515600" cy="31699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993812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7110169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Do's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Don'ts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6910381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2400"/>
                        <a:t>Compare findings across multiple studies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Assume fewer papers mean a research gap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92008217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2400"/>
                        <a:t>Analyze population, methods, and context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Accept AI-generated gaps without evidence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92224409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IN" sz="2400"/>
                        <a:t>Discuss gaps with supervisors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Ignore contradictory findings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3146771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IN" sz="2400"/>
                        <a:t>Validate novelty through databases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Depend only on AI suggestions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1651268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0F19B8-A3EB-4EBF-ADF2-934008D44D04}"/>
              </a:ext>
            </a:extLst>
          </p:cNvPr>
          <p:cNvSpPr txBox="1"/>
          <p:nvPr/>
        </p:nvSpPr>
        <p:spPr>
          <a:xfrm>
            <a:off x="249737" y="3126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Research Gap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522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4BEE0B-1D74-4D8A-9468-5AADBB432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778" y="5626894"/>
            <a:ext cx="5956118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Final Statement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Never cite a paper you have not opened and read.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CC2B31-3E60-479C-9BB8-6673613FB4EB}"/>
              </a:ext>
            </a:extLst>
          </p:cNvPr>
          <p:cNvGraphicFramePr>
            <a:graphicFrameLocks noGrp="1"/>
          </p:cNvGraphicFramePr>
          <p:nvPr/>
        </p:nvGraphicFramePr>
        <p:xfrm>
          <a:off x="1073009" y="1075479"/>
          <a:ext cx="10515600" cy="29260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963260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7016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Do's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Don'ts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7620367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IN" sz="2400"/>
                        <a:t>Use AI to discover relevant papers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 AI as your only search source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69802397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sz="2400"/>
                        <a:t>Read original articles before citing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Cite papers you have not read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68528066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sz="2400"/>
                        <a:t>Create a literature review matrix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Collect papers without organizing them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36704306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sz="2400"/>
                        <a:t>Use multiple tools for verification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Trust AI summaries blindly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62621251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IN" sz="2400"/>
                        <a:t>Validate publication quality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Assume every paper is credible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7241711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487899-28F1-4BB3-81EB-26D38B9306AD}"/>
              </a:ext>
            </a:extLst>
          </p:cNvPr>
          <p:cNvSpPr txBox="1"/>
          <p:nvPr/>
        </p:nvSpPr>
        <p:spPr>
          <a:xfrm>
            <a:off x="492196" y="2204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69542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1054</Words>
  <Application>Microsoft Office PowerPoint</Application>
  <PresentationFormat>Widescreen</PresentationFormat>
  <Paragraphs>204</Paragraphs>
  <Slides>12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Research &amp; Academic Content Development</dc:title>
  <dc:subject>PptxGenJS Presentation</dc:subject>
  <dc:creator>GITAM FDP Program</dc:creator>
  <cp:lastModifiedBy>LAKSHMINARASIMHA</cp:lastModifiedBy>
  <cp:revision>11</cp:revision>
  <dcterms:created xsi:type="dcterms:W3CDTF">2026-06-20T13:12:44Z</dcterms:created>
  <dcterms:modified xsi:type="dcterms:W3CDTF">2026-06-24T08:34:39Z</dcterms:modified>
</cp:coreProperties>
</file>